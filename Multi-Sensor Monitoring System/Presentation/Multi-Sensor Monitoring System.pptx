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79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4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0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0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A3A69F-AF52-A6C0-538C-05FB875DA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698" y="0"/>
            <a:ext cx="6082151" cy="5143500"/>
          </a:xfrm>
          <a:prstGeom prst="rect">
            <a:avLst/>
          </a:prstGeom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2ADEDA2-FB99-2A4D-03D3-7885622F3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756" y="0"/>
            <a:ext cx="360045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EB8A3C-3D65-84C1-A1A6-025748521EC7}"/>
              </a:ext>
            </a:extLst>
          </p:cNvPr>
          <p:cNvSpPr txBox="1"/>
          <p:nvPr/>
        </p:nvSpPr>
        <p:spPr>
          <a:xfrm>
            <a:off x="3600450" y="206178"/>
            <a:ext cx="3600450" cy="9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Multi-Sensor Monitoring System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023F-880B-044E-DA1D-0FAECEDDC9F4}"/>
              </a:ext>
            </a:extLst>
          </p:cNvPr>
          <p:cNvSpPr txBox="1"/>
          <p:nvPr/>
        </p:nvSpPr>
        <p:spPr>
          <a:xfrm>
            <a:off x="3618411" y="1164004"/>
            <a:ext cx="4594860" cy="536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Faculty of Engineering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Power Electronics, First Year Electrical Department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AB00C-0571-BF35-298D-E3C72A876064}"/>
              </a:ext>
            </a:extLst>
          </p:cNvPr>
          <p:cNvSpPr txBox="1"/>
          <p:nvPr/>
        </p:nvSpPr>
        <p:spPr>
          <a:xfrm>
            <a:off x="3674747" y="1736684"/>
            <a:ext cx="45948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Prepared By:</a:t>
            </a:r>
            <a:r>
              <a:rPr lang="en-US" sz="1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7ABDD-7225-02CD-9812-63153CDD9222}"/>
              </a:ext>
            </a:extLst>
          </p:cNvPr>
          <p:cNvSpPr txBox="1"/>
          <p:nvPr/>
        </p:nvSpPr>
        <p:spPr>
          <a:xfrm>
            <a:off x="3682305" y="2004464"/>
            <a:ext cx="4594860" cy="303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Farouq Walid Farouq Mohamed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2EBB87-481C-8840-E3AE-D3F60D1A5A6B}"/>
              </a:ext>
            </a:extLst>
          </p:cNvPr>
          <p:cNvSpPr txBox="1"/>
          <p:nvPr/>
        </p:nvSpPr>
        <p:spPr>
          <a:xfrm>
            <a:off x="3643933" y="2279583"/>
            <a:ext cx="4594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Omar Osama Mohamed Nassef </a:t>
            </a:r>
            <a:endParaRPr lang="ar-EG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87BCA-3761-BAA8-2153-4D580D6FA23E}"/>
              </a:ext>
            </a:extLst>
          </p:cNvPr>
          <p:cNvSpPr txBox="1"/>
          <p:nvPr/>
        </p:nvSpPr>
        <p:spPr>
          <a:xfrm>
            <a:off x="3661180" y="2522711"/>
            <a:ext cx="4594860" cy="303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Ammar Mohamed Abdallah ·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0E83E-700E-1C41-735B-BEE021321AE7}"/>
              </a:ext>
            </a:extLst>
          </p:cNvPr>
          <p:cNvSpPr txBox="1"/>
          <p:nvPr/>
        </p:nvSpPr>
        <p:spPr>
          <a:xfrm>
            <a:off x="3678427" y="2805414"/>
            <a:ext cx="4594860" cy="30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Waheed Ibrahim Ali 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EFCFC7-C4F1-FBA3-90BB-1CDE86A919DF}"/>
              </a:ext>
            </a:extLst>
          </p:cNvPr>
          <p:cNvSpPr txBox="1"/>
          <p:nvPr/>
        </p:nvSpPr>
        <p:spPr>
          <a:xfrm>
            <a:off x="3740179" y="3330391"/>
            <a:ext cx="4611188" cy="55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Supervised By: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Dr. Ahmed Eid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4506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7069" y="635571"/>
            <a:ext cx="8189863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" name="Text 1"/>
          <p:cNvSpPr/>
          <p:nvPr/>
        </p:nvSpPr>
        <p:spPr>
          <a:xfrm>
            <a:off x="496119" y="8154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34347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Multi-Sensor Monitoring System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an embedded systems project designed to monitor environmental conditions in real time using sensors connected to an </a:t>
            </a:r>
            <a:r>
              <a:rPr lang="en-US" sz="11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 UNO R3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5656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4881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 Fire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1956569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72433" y="24881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Measure Distance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95656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48747" y="24881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Monitor Water Level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93082"/>
            <a:ext cx="354360" cy="35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6119" y="35246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Bluetooth Data</a:t>
            </a:r>
            <a:endParaRPr lang="en-US" sz="13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2993082"/>
            <a:ext cx="354360" cy="3543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272433" y="35246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Trigger Alarms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496119" y="3905548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877" y="4120604"/>
            <a:ext cx="177180" cy="141759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56816" y="4082728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 Objective:</a:t>
            </a: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Improve safety and automation in homes, laboratories, and industrial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57932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Arduino &amp; LCD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50937" y="921097"/>
            <a:ext cx="4157960" cy="3265959"/>
          </a:xfrm>
          <a:prstGeom prst="roundRect">
            <a:avLst>
              <a:gd name="adj" fmla="val 5567"/>
            </a:avLst>
          </a:prstGeom>
          <a:solidFill>
            <a:srgbClr val="EAF4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Text 2"/>
          <p:cNvSpPr/>
          <p:nvPr/>
        </p:nvSpPr>
        <p:spPr>
          <a:xfrm>
            <a:off x="477143" y="377777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639866" y="896205"/>
            <a:ext cx="4157960" cy="3265959"/>
          </a:xfrm>
          <a:prstGeom prst="roundRect">
            <a:avLst>
              <a:gd name="adj" fmla="val 5567"/>
            </a:avLst>
          </a:prstGeom>
          <a:solidFill>
            <a:srgbClr val="F7FBFF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8" name="Text 4"/>
          <p:cNvSpPr/>
          <p:nvPr/>
        </p:nvSpPr>
        <p:spPr>
          <a:xfrm>
            <a:off x="4766072" y="103353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LCD 16x2 with I2C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766072" y="1343248"/>
            <a:ext cx="390554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LCD screen displays system readings and warning messages in real time.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766072" y="183758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Arduino UNO R3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66072" y="2147292"/>
            <a:ext cx="390554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 is the </a:t>
            </a: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 controller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the system and acts as the brain of the project.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766072" y="264162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Functions: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66072" y="2951336"/>
            <a:ext cx="3905548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Receives sensor data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Processes information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Controls alarms and output devices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766072" y="3703960"/>
            <a:ext cx="390554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Arduino works using a USB cable or external battery and is programmed using </a:t>
            </a: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 IDE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41871" y="4313560"/>
            <a:ext cx="2678460" cy="471934"/>
          </a:xfrm>
          <a:prstGeom prst="roundRect">
            <a:avLst>
              <a:gd name="adj" fmla="val 14532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2"/>
          <p:cNvSpPr/>
          <p:nvPr/>
        </p:nvSpPr>
        <p:spPr>
          <a:xfrm>
            <a:off x="427583" y="4313560"/>
            <a:ext cx="57150" cy="471934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3"/>
          <p:cNvSpPr/>
          <p:nvPr/>
        </p:nvSpPr>
        <p:spPr>
          <a:xfrm>
            <a:off x="625227" y="4454054"/>
            <a:ext cx="23546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🔥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Fire Detected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32770" y="4313560"/>
            <a:ext cx="2678460" cy="471934"/>
          </a:xfrm>
          <a:prstGeom prst="roundRect">
            <a:avLst>
              <a:gd name="adj" fmla="val 14532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5"/>
          <p:cNvSpPr/>
          <p:nvPr/>
        </p:nvSpPr>
        <p:spPr>
          <a:xfrm>
            <a:off x="3218483" y="4313560"/>
            <a:ext cx="57150" cy="471934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6"/>
          <p:cNvSpPr/>
          <p:nvPr/>
        </p:nvSpPr>
        <p:spPr>
          <a:xfrm>
            <a:off x="3416126" y="4454054"/>
            <a:ext cx="23546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💧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Low Water Level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23670" y="4313560"/>
            <a:ext cx="2678460" cy="471934"/>
          </a:xfrm>
          <a:prstGeom prst="roundRect">
            <a:avLst>
              <a:gd name="adj" fmla="val 14532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Shape 18"/>
          <p:cNvSpPr/>
          <p:nvPr/>
        </p:nvSpPr>
        <p:spPr>
          <a:xfrm>
            <a:off x="6009382" y="4313560"/>
            <a:ext cx="57150" cy="471934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19"/>
          <p:cNvSpPr/>
          <p:nvPr/>
        </p:nvSpPr>
        <p:spPr>
          <a:xfrm>
            <a:off x="6207026" y="4454054"/>
            <a:ext cx="23546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📶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Bluetooth Connected</a:t>
            </a:r>
            <a:endParaRPr lang="en-US" sz="950" dirty="0"/>
          </a:p>
        </p:txBody>
      </p:sp>
      <p:sp>
        <p:nvSpPr>
          <p:cNvPr id="26" name="AutoShape 4" descr="Multi-sensor system electronics diagram">
            <a:extLst>
              <a:ext uri="{FF2B5EF4-FFF2-40B4-BE49-F238E27FC236}">
                <a16:creationId xmlns:a16="http://schemas.microsoft.com/office/drawing/2014/main" id="{CB3A3E64-4EDE-703D-1E9A-339B54F50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27" name="AutoShape 6" descr="Multi-sensor system electronics diagram">
            <a:extLst>
              <a:ext uri="{FF2B5EF4-FFF2-40B4-BE49-F238E27FC236}">
                <a16:creationId xmlns:a16="http://schemas.microsoft.com/office/drawing/2014/main" id="{0892F42D-FBAE-696F-003B-709CA846A3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A4D9542-0944-F96D-4828-4959F96A0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17" y="1027924"/>
            <a:ext cx="3799199" cy="3002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293340"/>
            <a:ext cx="297113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Bluetooth Communication</a:t>
            </a:r>
            <a:endParaRPr lang="en-US" sz="1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758949"/>
            <a:ext cx="2829669" cy="28296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5875" y="3660577"/>
            <a:ext cx="2829669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4352627" y="881063"/>
            <a:ext cx="149855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Bluetooth Module (HC-05)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352627" y="1093887"/>
            <a:ext cx="3510186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Bluetooth module allows </a:t>
            </a:r>
            <a:r>
              <a:rPr lang="en-US" sz="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wireless communication</a:t>
            </a: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between the Arduino circuit and a mobile phone. The project uses the </a:t>
            </a:r>
            <a:r>
              <a:rPr lang="en-US" sz="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Bluetooth Electronics</a:t>
            </a: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application for monitoring the system.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352627" y="154007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It Works: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2627" y="1772766"/>
            <a:ext cx="95250" cy="952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352627" y="1908497"/>
            <a:ext cx="3510186" cy="14288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6"/>
          <p:cNvSpPr/>
          <p:nvPr/>
        </p:nvSpPr>
        <p:spPr>
          <a:xfrm>
            <a:off x="4352627" y="1984697"/>
            <a:ext cx="351018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Turn on Bluetooth on the phone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2627" y="2259434"/>
            <a:ext cx="95250" cy="9525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52627" y="2395165"/>
            <a:ext cx="3510186" cy="14288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8"/>
          <p:cNvSpPr/>
          <p:nvPr/>
        </p:nvSpPr>
        <p:spPr>
          <a:xfrm>
            <a:off x="4352627" y="2471365"/>
            <a:ext cx="351018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Bluetooth Electronics app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2627" y="2746102"/>
            <a:ext cx="95250" cy="952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352627" y="2881833"/>
            <a:ext cx="3510186" cy="14288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0"/>
          <p:cNvSpPr/>
          <p:nvPr/>
        </p:nvSpPr>
        <p:spPr>
          <a:xfrm>
            <a:off x="4352627" y="2958033"/>
            <a:ext cx="351018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 to HC-05 module</a:t>
            </a:r>
            <a:endParaRPr lang="en-US" sz="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52627" y="3232770"/>
            <a:ext cx="95250" cy="952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352627" y="3368501"/>
            <a:ext cx="3510186" cy="14288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2"/>
          <p:cNvSpPr/>
          <p:nvPr/>
        </p:nvSpPr>
        <p:spPr>
          <a:xfrm>
            <a:off x="4352627" y="3444701"/>
            <a:ext cx="351018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live sensor data</a:t>
            </a:r>
            <a:endParaRPr lang="en-US" sz="750" dirty="0"/>
          </a:p>
        </p:txBody>
      </p:sp>
      <p:sp>
        <p:nvSpPr>
          <p:cNvPr id="21" name="Shape 13"/>
          <p:cNvSpPr/>
          <p:nvPr/>
        </p:nvSpPr>
        <p:spPr>
          <a:xfrm>
            <a:off x="1285875" y="4060403"/>
            <a:ext cx="2148036" cy="789682"/>
          </a:xfrm>
          <a:prstGeom prst="roundRect">
            <a:avLst>
              <a:gd name="adj" fmla="val 8685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Shape 14"/>
          <p:cNvSpPr/>
          <p:nvPr/>
        </p:nvSpPr>
        <p:spPr>
          <a:xfrm>
            <a:off x="1285875" y="4046116"/>
            <a:ext cx="2148036" cy="57150"/>
          </a:xfrm>
          <a:prstGeom prst="roundRect">
            <a:avLst>
              <a:gd name="adj" fmla="val 1500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Shape 15"/>
          <p:cNvSpPr/>
          <p:nvPr/>
        </p:nvSpPr>
        <p:spPr>
          <a:xfrm>
            <a:off x="2217018" y="3917528"/>
            <a:ext cx="285750" cy="285750"/>
          </a:xfrm>
          <a:prstGeom prst="roundRect">
            <a:avLst>
              <a:gd name="adj" fmla="val 2000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2743" y="4003253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95412" y="429852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Wireless Monitoring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395412" y="4485754"/>
            <a:ext cx="1928961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Stay connected to the system from anywhere nearby.</a:t>
            </a:r>
            <a:endParaRPr lang="en-US" sz="750" dirty="0"/>
          </a:p>
        </p:txBody>
      </p:sp>
      <p:sp>
        <p:nvSpPr>
          <p:cNvPr id="27" name="Shape 18"/>
          <p:cNvSpPr/>
          <p:nvPr/>
        </p:nvSpPr>
        <p:spPr>
          <a:xfrm>
            <a:off x="3497907" y="4060403"/>
            <a:ext cx="2148111" cy="789682"/>
          </a:xfrm>
          <a:prstGeom prst="roundRect">
            <a:avLst>
              <a:gd name="adj" fmla="val 8685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Shape 19"/>
          <p:cNvSpPr/>
          <p:nvPr/>
        </p:nvSpPr>
        <p:spPr>
          <a:xfrm>
            <a:off x="3497907" y="4046116"/>
            <a:ext cx="2148111" cy="57150"/>
          </a:xfrm>
          <a:prstGeom prst="roundRect">
            <a:avLst>
              <a:gd name="adj" fmla="val 1500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Shape 20"/>
          <p:cNvSpPr/>
          <p:nvPr/>
        </p:nvSpPr>
        <p:spPr>
          <a:xfrm>
            <a:off x="4429051" y="3917528"/>
            <a:ext cx="285750" cy="285750"/>
          </a:xfrm>
          <a:prstGeom prst="roundRect">
            <a:avLst>
              <a:gd name="adj" fmla="val 2000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14776" y="4003253"/>
            <a:ext cx="114300" cy="1143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07445" y="4298528"/>
            <a:ext cx="129093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Real-Time Data Display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3607445" y="4485754"/>
            <a:ext cx="192903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updates from sensors and live system readings.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5710014" y="4060403"/>
            <a:ext cx="2148036" cy="789682"/>
          </a:xfrm>
          <a:prstGeom prst="roundRect">
            <a:avLst>
              <a:gd name="adj" fmla="val 8685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4" name="Shape 24"/>
          <p:cNvSpPr/>
          <p:nvPr/>
        </p:nvSpPr>
        <p:spPr>
          <a:xfrm>
            <a:off x="5710014" y="4046116"/>
            <a:ext cx="2148036" cy="57150"/>
          </a:xfrm>
          <a:prstGeom prst="roundRect">
            <a:avLst>
              <a:gd name="adj" fmla="val 1500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5" name="Shape 25"/>
          <p:cNvSpPr/>
          <p:nvPr/>
        </p:nvSpPr>
        <p:spPr>
          <a:xfrm>
            <a:off x="6641157" y="3917528"/>
            <a:ext cx="285750" cy="285750"/>
          </a:xfrm>
          <a:prstGeom prst="roundRect">
            <a:avLst>
              <a:gd name="adj" fmla="val 2000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26882" y="4003253"/>
            <a:ext cx="114300" cy="1143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819552" y="429852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Easy Communication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5819552" y="4485754"/>
            <a:ext cx="1928961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 pairing and fast setup for everyday use.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" name="Text 1"/>
          <p:cNvSpPr/>
          <p:nvPr/>
        </p:nvSpPr>
        <p:spPr>
          <a:xfrm>
            <a:off x="496119" y="120870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B2E59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Sensors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86429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44A7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Modern sensor modules for fire detection, distance measurement, and water monitoring in IoT systems.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410048"/>
            <a:ext cx="2458343" cy="136527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477069" y="2410048"/>
            <a:ext cx="76200" cy="1365275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714077" y="25708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B2E59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Flame Sensor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4077" y="2934072"/>
            <a:ext cx="20795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Detects fire quickly and triggers alerts when flames are present.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05101" y="2410048"/>
            <a:ext cx="2543249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8"/>
          <p:cNvSpPr/>
          <p:nvPr/>
        </p:nvSpPr>
        <p:spPr>
          <a:xfrm>
            <a:off x="3286051" y="2410048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3523059" y="25708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B2E59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Ultrasonic Sensor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523059" y="2934072"/>
            <a:ext cx="21644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Measures distance accurately using ultrasonic waves.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8989" y="2410048"/>
            <a:ext cx="2458343" cy="136527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6179939" y="2410048"/>
            <a:ext cx="76200" cy="1365275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6416948" y="25708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B2E59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Water Sensor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16948" y="2934072"/>
            <a:ext cx="20795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Monitors water levels and sends warning signals when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" name="Text 1"/>
          <p:cNvSpPr/>
          <p:nvPr/>
        </p:nvSpPr>
        <p:spPr>
          <a:xfrm>
            <a:off x="472901" y="384646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Operation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472901" y="858441"/>
            <a:ext cx="183586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the System Works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75531" y="1803202"/>
            <a:ext cx="2444204" cy="135062"/>
          </a:xfrm>
          <a:prstGeom prst="roundRect">
            <a:avLst>
              <a:gd name="adj" fmla="val 900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472901" y="1668028"/>
            <a:ext cx="405333" cy="405333"/>
          </a:xfrm>
          <a:prstGeom prst="roundRect">
            <a:avLst>
              <a:gd name="adj" fmla="val 704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253" y="1769380"/>
            <a:ext cx="202629" cy="2026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963" y="220213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 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7963" y="2490490"/>
            <a:ext cx="237678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Sensors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collect environmental data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51175" y="1600498"/>
            <a:ext cx="2444204" cy="135062"/>
          </a:xfrm>
          <a:prstGeom prst="roundRect">
            <a:avLst>
              <a:gd name="adj" fmla="val 900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Shape 8"/>
          <p:cNvSpPr/>
          <p:nvPr/>
        </p:nvSpPr>
        <p:spPr>
          <a:xfrm>
            <a:off x="3248546" y="1465325"/>
            <a:ext cx="405333" cy="405333"/>
          </a:xfrm>
          <a:prstGeom prst="roundRect">
            <a:avLst>
              <a:gd name="adj" fmla="val 704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9898" y="1566676"/>
            <a:ext cx="202629" cy="2026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607" y="199943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 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83607" y="2287786"/>
            <a:ext cx="237678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Arduino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processes the sensor readings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26820" y="1397868"/>
            <a:ext cx="2444204" cy="135062"/>
          </a:xfrm>
          <a:prstGeom prst="roundRect">
            <a:avLst>
              <a:gd name="adj" fmla="val 900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Shape 12"/>
          <p:cNvSpPr/>
          <p:nvPr/>
        </p:nvSpPr>
        <p:spPr>
          <a:xfrm>
            <a:off x="6024190" y="1262695"/>
            <a:ext cx="405333" cy="405333"/>
          </a:xfrm>
          <a:prstGeom prst="roundRect">
            <a:avLst>
              <a:gd name="adj" fmla="val 704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5542" y="1364047"/>
            <a:ext cx="202629" cy="2026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59252" y="179680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 3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159252" y="2085156"/>
            <a:ext cx="237678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Results appear on the </a:t>
            </a: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LCD screen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75531" y="3514279"/>
            <a:ext cx="2444204" cy="135062"/>
          </a:xfrm>
          <a:prstGeom prst="roundRect">
            <a:avLst>
              <a:gd name="adj" fmla="val 900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Shape 16"/>
          <p:cNvSpPr/>
          <p:nvPr/>
        </p:nvSpPr>
        <p:spPr>
          <a:xfrm>
            <a:off x="472901" y="3379105"/>
            <a:ext cx="405333" cy="405333"/>
          </a:xfrm>
          <a:prstGeom prst="roundRect">
            <a:avLst>
              <a:gd name="adj" fmla="val 704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253" y="3480457"/>
            <a:ext cx="202629" cy="2026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7963" y="391321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 4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07963" y="4201567"/>
            <a:ext cx="237678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is sent wirelessly through </a:t>
            </a: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Bluetooth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451175" y="3311575"/>
            <a:ext cx="2444204" cy="135062"/>
          </a:xfrm>
          <a:prstGeom prst="roundRect">
            <a:avLst>
              <a:gd name="adj" fmla="val 9004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7" name="Shape 20"/>
          <p:cNvSpPr/>
          <p:nvPr/>
        </p:nvSpPr>
        <p:spPr>
          <a:xfrm>
            <a:off x="3248546" y="3176401"/>
            <a:ext cx="405333" cy="405333"/>
          </a:xfrm>
          <a:prstGeom prst="roundRect">
            <a:avLst>
              <a:gd name="adj" fmla="val 7049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9898" y="3277753"/>
            <a:ext cx="202629" cy="2026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83607" y="371050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 5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383607" y="3998863"/>
            <a:ext cx="237678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buzzer and LEDs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activate during danger situations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132" y="345951"/>
            <a:ext cx="391053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Applications of the System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44835" y="896243"/>
            <a:ext cx="4165178" cy="3901232"/>
          </a:xfrm>
          <a:prstGeom prst="roundRect">
            <a:avLst>
              <a:gd name="adj" fmla="val 4579"/>
            </a:avLst>
          </a:prstGeom>
          <a:solidFill>
            <a:srgbClr val="EAF4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468809" y="1004739"/>
            <a:ext cx="17717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Applications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17" y="1326728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1835" y="1320626"/>
            <a:ext cx="35142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safety systems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17" y="1922041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1835" y="1915939"/>
            <a:ext cx="35142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Fire alarm systems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17" y="2517353"/>
            <a:ext cx="186035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1835" y="2511251"/>
            <a:ext cx="35142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Water tank monitoring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17" y="3112666"/>
            <a:ext cx="186035" cy="1860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71835" y="3106564"/>
            <a:ext cx="35142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irrigation systems</a:t>
            </a:r>
            <a:endParaRPr lang="en-US" sz="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17" y="3707978"/>
            <a:ext cx="186035" cy="1860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71835" y="3701876"/>
            <a:ext cx="35142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Fire-fighting robots</a:t>
            </a:r>
            <a:endParaRPr lang="en-US" sz="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17" y="4303291"/>
            <a:ext cx="186035" cy="18603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71835" y="4297189"/>
            <a:ext cx="35142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Industrial and kitchen safety</a:t>
            </a:r>
            <a:endParaRPr lang="en-US" sz="950" dirty="0"/>
          </a:p>
        </p:txBody>
      </p:sp>
      <p:sp>
        <p:nvSpPr>
          <p:cNvPr id="18" name="Shape 9"/>
          <p:cNvSpPr/>
          <p:nvPr/>
        </p:nvSpPr>
        <p:spPr>
          <a:xfrm>
            <a:off x="4638749" y="896243"/>
            <a:ext cx="4165178" cy="3901232"/>
          </a:xfrm>
          <a:prstGeom prst="roundRect">
            <a:avLst>
              <a:gd name="adj" fmla="val 4579"/>
            </a:avLst>
          </a:prstGeom>
          <a:solidFill>
            <a:srgbClr val="DCEE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0"/>
          <p:cNvSpPr/>
          <p:nvPr/>
        </p:nvSpPr>
        <p:spPr>
          <a:xfrm>
            <a:off x="4762723" y="100473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Advantages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4762723" y="1320626"/>
            <a:ext cx="1904330" cy="826963"/>
          </a:xfrm>
          <a:prstGeom prst="roundRect">
            <a:avLst>
              <a:gd name="adj" fmla="val 13500"/>
            </a:avLst>
          </a:prstGeom>
          <a:solidFill>
            <a:srgbClr val="DCEE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2"/>
          <p:cNvSpPr/>
          <p:nvPr/>
        </p:nvSpPr>
        <p:spPr>
          <a:xfrm>
            <a:off x="4777011" y="1334914"/>
            <a:ext cx="1875755" cy="372070"/>
          </a:xfrm>
          <a:prstGeom prst="roundRect">
            <a:avLst>
              <a:gd name="adj" fmla="val 2539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1834" y="1427857"/>
            <a:ext cx="186035" cy="18603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900985" y="1815480"/>
            <a:ext cx="15793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6775549" y="1320626"/>
            <a:ext cx="1904405" cy="826963"/>
          </a:xfrm>
          <a:prstGeom prst="roundRect">
            <a:avLst>
              <a:gd name="adj" fmla="val 13500"/>
            </a:avLst>
          </a:prstGeom>
          <a:solidFill>
            <a:srgbClr val="DCEE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Shape 15"/>
          <p:cNvSpPr/>
          <p:nvPr/>
        </p:nvSpPr>
        <p:spPr>
          <a:xfrm>
            <a:off x="6789837" y="1334914"/>
            <a:ext cx="1875830" cy="372070"/>
          </a:xfrm>
          <a:prstGeom prst="roundRect">
            <a:avLst>
              <a:gd name="adj" fmla="val 2539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4734" y="1427857"/>
            <a:ext cx="186035" cy="18603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13811" y="18154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Low Cost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4762723" y="2256086"/>
            <a:ext cx="1904330" cy="1020812"/>
          </a:xfrm>
          <a:prstGeom prst="roundRect">
            <a:avLst>
              <a:gd name="adj" fmla="val 10937"/>
            </a:avLst>
          </a:prstGeom>
          <a:solidFill>
            <a:srgbClr val="DCEE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Shape 18"/>
          <p:cNvSpPr/>
          <p:nvPr/>
        </p:nvSpPr>
        <p:spPr>
          <a:xfrm>
            <a:off x="4777011" y="2270373"/>
            <a:ext cx="1875755" cy="372070"/>
          </a:xfrm>
          <a:prstGeom prst="roundRect">
            <a:avLst>
              <a:gd name="adj" fmla="val 2539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1834" y="2363316"/>
            <a:ext cx="186035" cy="18603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900985" y="2750939"/>
            <a:ext cx="16278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Wireless Communication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6775549" y="2256086"/>
            <a:ext cx="1904405" cy="1020812"/>
          </a:xfrm>
          <a:prstGeom prst="roundRect">
            <a:avLst>
              <a:gd name="adj" fmla="val 10937"/>
            </a:avLst>
          </a:prstGeom>
          <a:solidFill>
            <a:srgbClr val="DCEE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Shape 21"/>
          <p:cNvSpPr/>
          <p:nvPr/>
        </p:nvSpPr>
        <p:spPr>
          <a:xfrm>
            <a:off x="6789837" y="2270373"/>
            <a:ext cx="1875830" cy="372070"/>
          </a:xfrm>
          <a:prstGeom prst="roundRect">
            <a:avLst>
              <a:gd name="adj" fmla="val 2539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34734" y="2363316"/>
            <a:ext cx="186035" cy="186035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913811" y="275093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Easy to Expand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3887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08720" y="1707059"/>
            <a:ext cx="4510162" cy="1771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</a:t>
            </a:r>
            <a:r>
              <a:rPr lang="en-US" sz="22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Multi-Sensor Monitoring System</a:t>
            </a: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demonstrates how Arduino and sensors can work together to create a </a:t>
            </a:r>
            <a:r>
              <a:rPr lang="en-US" sz="220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and efficient safety system</a:t>
            </a: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96119" y="1494458"/>
            <a:ext cx="19050" cy="2197001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Text 3"/>
          <p:cNvSpPr/>
          <p:nvPr/>
        </p:nvSpPr>
        <p:spPr>
          <a:xfrm>
            <a:off x="496119" y="385092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project improves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monitoring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automation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protection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many real-world applications.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439</Words>
  <Application>Microsoft Office PowerPoint</Application>
  <PresentationFormat>On-screen Show (16:9)</PresentationFormat>
  <Paragraphs>87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Instrument Sans Semi Bold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farouk walied</dc:creator>
  <cp:lastModifiedBy>Farouk Walied Mohammed</cp:lastModifiedBy>
  <cp:revision>4</cp:revision>
  <dcterms:created xsi:type="dcterms:W3CDTF">2026-05-12T23:04:09Z</dcterms:created>
  <dcterms:modified xsi:type="dcterms:W3CDTF">2026-05-12T23:32:27Z</dcterms:modified>
</cp:coreProperties>
</file>